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EE0DA"/>
                </a:solidFill>
                <a:latin typeface="Aptos"/>
              </a:rPr>
              <a:t>AIWA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4F7FC"/>
                </a:solidFill>
                <a:latin typeface="Aptos"/>
              </a:rPr>
              <a:t>IS NOT A BLOCKCHAIN.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A4FF"/>
                </a:solidFill>
                <a:latin typeface="Aptos"/>
              </a:rPr>
              <a:t>IT IS A DAG ARCHITECTURE FOR AUTONOMY UNDER PARTITION.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16352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A0AEC2"/>
                </a:solidFill>
                <a:latin typeface="Aptos"/>
              </a:rPr>
              <a:t>A deep-tech architecture for applications that must keep operating when communication disappears.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3840480"/>
            <a:ext cx="1234440" cy="1234440"/>
          </a:xfrm>
          <a:prstGeom prst="ellipse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1389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1A4FF"/>
                </a:solidFill>
                <a:latin typeface="Aptos"/>
              </a:rPr>
              <a:t>EARTH</a:t>
            </a:r>
          </a:p>
        </p:txBody>
      </p:sp>
      <p:sp>
        <p:nvSpPr>
          <p:cNvPr id="9" name="Oval 8"/>
          <p:cNvSpPr/>
          <p:nvPr/>
        </p:nvSpPr>
        <p:spPr>
          <a:xfrm>
            <a:off x="9875520" y="3840480"/>
            <a:ext cx="1234440" cy="123444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29800" y="51389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9933"/>
                </a:solidFill>
                <a:latin typeface="Aptos"/>
              </a:rPr>
              <a:t>MARS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4462272"/>
            <a:ext cx="3017520" cy="0"/>
          </a:xfrm>
          <a:prstGeom prst="line">
            <a:avLst/>
          </a:prstGeom>
          <a:ln w="15240">
            <a:solidFill>
              <a:srgbClr val="A0AE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629400" y="4462272"/>
            <a:ext cx="2514600" cy="0"/>
          </a:xfrm>
          <a:prstGeom prst="line">
            <a:avLst/>
          </a:prstGeom>
          <a:ln w="15240">
            <a:solidFill>
              <a:srgbClr val="A0AE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0" y="4160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5C6C"/>
                </a:solidFill>
                <a:latin typeface="Aptos"/>
              </a:rPr>
              <a:t>COMMUNICATION LOST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806440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4F7FC"/>
                </a:solidFill>
                <a:latin typeface="Aptos"/>
              </a:rPr>
              <a:t>DAG-native  •  partition-tolerant  •  economically explicit  •  AI-assisted, never AI-authoritative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EE0DA"/>
                </a:solidFill>
                <a:latin typeface="Aptos"/>
              </a:rPr>
              <a:t>01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"/>
              </a:rPr>
              <a:t>What if communication is not an edge case?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727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0AEC2"/>
                </a:solidFill>
                <a:latin typeface="Aptos"/>
              </a:rPr>
              <a:t>AIWA starts from a physical constraint: domains can become mutually unreachable for an unknown duration.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32918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AEC2"/>
                </a:solidFill>
                <a:latin typeface="Aptos"/>
              </a:rPr>
              <a:t>THE CLASSIC 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4F7FC"/>
                </a:solidFill>
                <a:latin typeface="Aptos"/>
              </a:rPr>
              <a:t>A → network →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2743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0AEC2"/>
                </a:solidFill>
                <a:latin typeface="Aptos"/>
              </a:rPr>
              <a:t>Requests propagate.
State can eventually be compared.
Coordination is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40280"/>
            <a:ext cx="7086600" cy="329184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5146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EE0DA"/>
                </a:solidFill>
                <a:latin typeface="Aptos"/>
              </a:rPr>
              <a:t>AIWA'S OPERATING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07792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4F7FC"/>
                </a:solidFill>
                <a:latin typeface="Aptos"/>
              </a:rPr>
              <a:t>A  ✕ 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703320"/>
            <a:ext cx="5897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4F7FC"/>
                </a:solidFill>
                <a:latin typeface="Aptos"/>
              </a:rPr>
              <a:t>No server can tell both domains the current global state.
The system must keep making local progress anyway.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892040"/>
            <a:ext cx="6080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1A4FF"/>
                </a:solidFill>
                <a:latin typeface="Aptos"/>
              </a:rPr>
              <a:t>The architecture therefore separates guarantees instead of hiding the dependency.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EE0DA"/>
                </a:solidFill>
                <a:latin typeface="Aptos"/>
              </a:rPr>
              <a:t>02 — 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"/>
              </a:rPr>
              <a:t>Do not solve one giant problem. Separate the guarantees.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727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0AEC2"/>
                </a:solidFill>
                <a:latin typeface="Aptos"/>
              </a:rPr>
              <a:t>AIWA's core contribution is architectural discipline: name each dependency, then design around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3429000" cy="10515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2578608"/>
            <a:ext cx="502920" cy="502920"/>
          </a:xfrm>
          <a:prstGeom prst="ellipse">
            <a:avLst/>
          </a:prstGeom>
          <a:solidFill>
            <a:srgbClr val="3E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5877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CONSERVATION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26079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0AEC2"/>
                </a:solidFill>
                <a:latin typeface="Aptos"/>
              </a:rPr>
              <a:t>Independent failure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31720"/>
            <a:ext cx="3429000" cy="10515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81728" y="2578608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5877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ACCRUAL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926079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0AEC2"/>
                </a:solidFill>
                <a:latin typeface="Aptos"/>
              </a:rPr>
              <a:t>Independent failure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331720"/>
            <a:ext cx="3429000" cy="10515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76488" y="2578608"/>
            <a:ext cx="502920" cy="502920"/>
          </a:xfrm>
          <a:prstGeom prst="ellipse">
            <a:avLst/>
          </a:prstGeom>
          <a:solidFill>
            <a:srgbClr val="A5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5877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926079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0AEC2"/>
                </a:solidFill>
                <a:latin typeface="Aptos"/>
              </a:rPr>
              <a:t>Independent failure 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49039"/>
            <a:ext cx="3429000" cy="10515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3995927"/>
            <a:ext cx="502920" cy="502920"/>
          </a:xfrm>
          <a:prstGeom prst="ellipse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00507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4340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0AEC2"/>
                </a:solidFill>
                <a:latin typeface="Aptos"/>
              </a:rPr>
              <a:t>Independent failure 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49039"/>
            <a:ext cx="3429000" cy="10515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81728" y="3995927"/>
            <a:ext cx="502920" cy="502920"/>
          </a:xfrm>
          <a:prstGeom prst="ellipse">
            <a:avLst/>
          </a:prstGeom>
          <a:solidFill>
            <a:srgbClr val="64D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400507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EXTENSIBILITY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434340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0AEC2"/>
                </a:solidFill>
                <a:latin typeface="Aptos"/>
              </a:rPr>
              <a:t>Independent failure mode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749039"/>
            <a:ext cx="3429000" cy="10515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76488" y="3995927"/>
            <a:ext cx="502920" cy="502920"/>
          </a:xfrm>
          <a:prstGeom prst="ellipse">
            <a:avLst/>
          </a:prstGeom>
          <a:solidFill>
            <a:srgbClr val="F6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00507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34340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0AEC2"/>
                </a:solidFill>
                <a:latin typeface="Aptos"/>
              </a:rPr>
              <a:t>Independent failure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48640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4F7FC"/>
                </a:solidFill>
                <a:latin typeface="Aptos"/>
              </a:rPr>
              <a:t>Do not collapse everything into “the blockchain”, “the AI”, or “the app”.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EE0DA"/>
                </a:solidFill>
                <a:latin typeface="Aptos"/>
              </a:rPr>
              <a:t>03 — INNOVATION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"/>
              </a:rPr>
              <a:t>A DAG of events, not a chain of 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727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0AEC2"/>
                </a:solidFill>
                <a:latin typeface="Aptos"/>
              </a:rPr>
              <a:t>The replicated object is the event set. Economic state is a deterministic view over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6949440" cy="361188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EE0DA"/>
                </a:solidFill>
                <a:latin typeface="Aptos"/>
              </a:rPr>
              <a:t>EVENT DAG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371600" y="3383280"/>
            <a:ext cx="1097280" cy="1005840"/>
          </a:xfrm>
          <a:prstGeom prst="line">
            <a:avLst/>
          </a:prstGeom>
          <a:ln w="1524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389120"/>
            <a:ext cx="1188720" cy="822960"/>
          </a:xfrm>
          <a:prstGeom prst="line">
            <a:avLst/>
          </a:prstGeom>
          <a:ln w="1524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68880" y="3383280"/>
            <a:ext cx="1188720" cy="685800"/>
          </a:xfrm>
          <a:prstGeom prst="line">
            <a:avLst/>
          </a:prstGeom>
          <a:ln w="1524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560320" y="4069080"/>
            <a:ext cx="1097280" cy="1143000"/>
          </a:xfrm>
          <a:prstGeom prst="line">
            <a:avLst/>
          </a:prstGeom>
          <a:ln w="1524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657600" y="2926080"/>
            <a:ext cx="548640" cy="1143000"/>
          </a:xfrm>
          <a:prstGeom prst="line">
            <a:avLst/>
          </a:prstGeom>
          <a:ln w="1524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0" y="4069080"/>
            <a:ext cx="914400" cy="1051560"/>
          </a:xfrm>
          <a:prstGeom prst="line">
            <a:avLst/>
          </a:prstGeom>
          <a:ln w="1524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06240" y="2926080"/>
            <a:ext cx="1463040" cy="822959"/>
          </a:xfrm>
          <a:prstGeom prst="line">
            <a:avLst/>
          </a:prstGeom>
          <a:ln w="1524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572000" y="3749039"/>
            <a:ext cx="1097280" cy="1371601"/>
          </a:xfrm>
          <a:prstGeom prst="line">
            <a:avLst/>
          </a:prstGeom>
          <a:ln w="1524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69280" y="3749039"/>
            <a:ext cx="914400" cy="1005841"/>
          </a:xfrm>
          <a:prstGeom prst="line">
            <a:avLst/>
          </a:prstGeom>
          <a:ln w="1524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252728" y="4270248"/>
            <a:ext cx="237744" cy="237744"/>
          </a:xfrm>
          <a:prstGeom prst="ellipse">
            <a:avLst/>
          </a:prstGeom>
          <a:solidFill>
            <a:srgbClr val="31A4FF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0008" y="3264408"/>
            <a:ext cx="237744" cy="237744"/>
          </a:xfrm>
          <a:prstGeom prst="ellipse">
            <a:avLst/>
          </a:prstGeom>
          <a:solidFill>
            <a:srgbClr val="3EE0DA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41448" y="5093208"/>
            <a:ext cx="237744" cy="237744"/>
          </a:xfrm>
          <a:prstGeom prst="ellipse">
            <a:avLst/>
          </a:prstGeom>
          <a:solidFill>
            <a:srgbClr val="A569FF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38728" y="3950208"/>
            <a:ext cx="237744" cy="237744"/>
          </a:xfrm>
          <a:prstGeom prst="ellipse">
            <a:avLst/>
          </a:prstGeom>
          <a:solidFill>
            <a:srgbClr val="FF9933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87368" y="2807208"/>
            <a:ext cx="237744" cy="237744"/>
          </a:xfrm>
          <a:prstGeom prst="ellipse">
            <a:avLst/>
          </a:prstGeom>
          <a:solidFill>
            <a:srgbClr val="64DA82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53128" y="5001768"/>
            <a:ext cx="237744" cy="237744"/>
          </a:xfrm>
          <a:prstGeom prst="ellipse">
            <a:avLst/>
          </a:prstGeom>
          <a:solidFill>
            <a:srgbClr val="31A4FF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50408" y="3630168"/>
            <a:ext cx="237744" cy="237744"/>
          </a:xfrm>
          <a:prstGeom prst="ellipse">
            <a:avLst/>
          </a:prstGeom>
          <a:solidFill>
            <a:srgbClr val="3EE0DA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636008"/>
            <a:ext cx="237744" cy="237744"/>
          </a:xfrm>
          <a:prstGeom prst="ellipse">
            <a:avLst/>
          </a:prstGeom>
          <a:solidFill>
            <a:srgbClr val="A569FF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864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H = {events}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54864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A = G(H, θ)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148840"/>
            <a:ext cx="3657600" cy="36118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24688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1A4FF"/>
                </a:solidFill>
                <a:latin typeface="Aptos"/>
              </a:rPr>
              <a:t>WHY IT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971800"/>
            <a:ext cx="2788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"/>
              </a:spcAft>
              <a:defRPr sz="1500">
                <a:solidFill>
                  <a:srgbClr val="F4F7FC"/>
                </a:solidFill>
                <a:latin typeface="Aptos"/>
              </a:defRPr>
            </a:pPr>
            <a:r>
              <a:t>• No scalar balance as replicated state</a:t>
            </a:r>
          </a:p>
          <a:p>
            <a:pPr>
              <a:spcAft>
                <a:spcPts val="120"/>
              </a:spcAft>
              <a:defRPr sz="1500">
                <a:solidFill>
                  <a:srgbClr val="F4F7FC"/>
                </a:solidFill>
                <a:latin typeface="Aptos"/>
              </a:defRPr>
            </a:pPr>
            <a:r>
              <a:t>• Different arrival orders can converge</a:t>
            </a:r>
          </a:p>
          <a:p>
            <a:pPr>
              <a:spcAft>
                <a:spcPts val="120"/>
              </a:spcAft>
              <a:defRPr sz="1500">
                <a:solidFill>
                  <a:srgbClr val="F4F7FC"/>
                </a:solidFill>
                <a:latin typeface="Aptos"/>
              </a:defRPr>
            </a:pPr>
            <a:r>
              <a:t>• Economic meaning is recomputed deterministically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5349240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EE0DA"/>
                </a:solidFill>
                <a:latin typeface="Aptos"/>
              </a:rPr>
              <a:t>A fundamental shift in architecture.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EE0DA"/>
                </a:solidFill>
                <a:latin typeface="Aptos"/>
              </a:rPr>
              <a:t>04 — INNOVATION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"/>
              </a:rPr>
              <a:t>Convergence without global coordination.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727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0AEC2"/>
                </a:solidFill>
                <a:latin typeface="Aptos"/>
              </a:rPr>
              <a:t>Independent domains can evolve, disconnect, exchange events, and deterministically rebuild the same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1A4FF"/>
                </a:solidFill>
                <a:latin typeface="Aptos"/>
              </a:rPr>
              <a:t>DOMAIN A</a:t>
            </a:r>
          </a:p>
        </p:txBody>
      </p:sp>
      <p:sp>
        <p:nvSpPr>
          <p:cNvPr id="7" name="Oval 6"/>
          <p:cNvSpPr/>
          <p:nvPr/>
        </p:nvSpPr>
        <p:spPr>
          <a:xfrm>
            <a:off x="1527048" y="3127248"/>
            <a:ext cx="237744" cy="237744"/>
          </a:xfrm>
          <a:prstGeom prst="ellipse">
            <a:avLst/>
          </a:prstGeom>
          <a:solidFill>
            <a:srgbClr val="31A4FF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645920" y="2788920"/>
            <a:ext cx="1097280" cy="457200"/>
          </a:xfrm>
          <a:prstGeom prst="line">
            <a:avLst/>
          </a:prstGeom>
          <a:ln w="1270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624328" y="2670048"/>
            <a:ext cx="237744" cy="237744"/>
          </a:xfrm>
          <a:prstGeom prst="ellipse">
            <a:avLst/>
          </a:prstGeom>
          <a:solidFill>
            <a:srgbClr val="31A4FF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2286000" y="2788920"/>
            <a:ext cx="457200" cy="1188719"/>
          </a:xfrm>
          <a:prstGeom prst="line">
            <a:avLst/>
          </a:prstGeom>
          <a:ln w="1270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167128" y="3858768"/>
            <a:ext cx="237744" cy="237744"/>
          </a:xfrm>
          <a:prstGeom prst="ellipse">
            <a:avLst/>
          </a:prstGeom>
          <a:solidFill>
            <a:srgbClr val="31A4FF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2286000" y="3657600"/>
            <a:ext cx="1371600" cy="320039"/>
          </a:xfrm>
          <a:prstGeom prst="line">
            <a:avLst/>
          </a:prstGeom>
          <a:ln w="1270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38728" y="3538728"/>
            <a:ext cx="237744" cy="237744"/>
          </a:xfrm>
          <a:prstGeom prst="ellipse">
            <a:avLst/>
          </a:prstGeom>
          <a:solidFill>
            <a:srgbClr val="31A4FF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3317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9933"/>
                </a:solidFill>
                <a:latin typeface="Aptos"/>
              </a:rPr>
              <a:t>DOMAIN B</a:t>
            </a:r>
          </a:p>
        </p:txBody>
      </p:sp>
      <p:sp>
        <p:nvSpPr>
          <p:cNvPr id="15" name="Oval 14"/>
          <p:cNvSpPr/>
          <p:nvPr/>
        </p:nvSpPr>
        <p:spPr>
          <a:xfrm>
            <a:off x="7379208" y="3127248"/>
            <a:ext cx="237744" cy="237744"/>
          </a:xfrm>
          <a:prstGeom prst="ellipse">
            <a:avLst/>
          </a:prstGeom>
          <a:solidFill>
            <a:srgbClr val="FF9933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7498080" y="2788920"/>
            <a:ext cx="1097280" cy="457200"/>
          </a:xfrm>
          <a:prstGeom prst="line">
            <a:avLst/>
          </a:prstGeom>
          <a:ln w="1270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476488" y="2670048"/>
            <a:ext cx="237744" cy="237744"/>
          </a:xfrm>
          <a:prstGeom prst="ellipse">
            <a:avLst/>
          </a:prstGeom>
          <a:solidFill>
            <a:srgbClr val="FF9933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8138160" y="2788920"/>
            <a:ext cx="457200" cy="1188719"/>
          </a:xfrm>
          <a:prstGeom prst="line">
            <a:avLst/>
          </a:prstGeom>
          <a:ln w="1270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019288" y="3858768"/>
            <a:ext cx="237744" cy="237744"/>
          </a:xfrm>
          <a:prstGeom prst="ellipse">
            <a:avLst/>
          </a:prstGeom>
          <a:solidFill>
            <a:srgbClr val="FF9933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8138160" y="3657600"/>
            <a:ext cx="1371600" cy="320039"/>
          </a:xfrm>
          <a:prstGeom prst="line">
            <a:avLst/>
          </a:prstGeom>
          <a:ln w="1270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390888" y="3538728"/>
            <a:ext cx="237744" cy="237744"/>
          </a:xfrm>
          <a:prstGeom prst="ellipse">
            <a:avLst/>
          </a:prstGeom>
          <a:solidFill>
            <a:srgbClr val="FF9933"/>
          </a:solidFill>
          <a:ln>
            <a:solidFill>
              <a:srgbClr val="07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617720" y="3657600"/>
            <a:ext cx="868680" cy="0"/>
          </a:xfrm>
          <a:prstGeom prst="line">
            <a:avLst/>
          </a:prstGeom>
          <a:ln w="16510">
            <a:solidFill>
              <a:srgbClr val="A0AE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675120" y="3657600"/>
            <a:ext cx="777240" cy="0"/>
          </a:xfrm>
          <a:prstGeom prst="line">
            <a:avLst/>
          </a:prstGeom>
          <a:ln w="16510">
            <a:solidFill>
              <a:srgbClr val="A0AE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349240" y="3154680"/>
            <a:ext cx="914400" cy="914400"/>
          </a:xfrm>
          <a:prstGeom prst="ellipse">
            <a:avLst/>
          </a:prstGeom>
          <a:solidFill>
            <a:srgbClr val="A5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2461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4F7FC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224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0AEC2"/>
                </a:solidFill>
                <a:latin typeface="Aptos"/>
              </a:rPr>
              <a:t>RECONNECT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4892040"/>
            <a:ext cx="9966960" cy="91440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10235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500 / 500 convergence in the tested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02352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A0AEC2"/>
                </a:solidFill>
                <a:latin typeface="Aptos"/>
              </a:rPr>
              <a:t>Experimental result reported in the whitepaper.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EE0DA"/>
                </a:solidFill>
                <a:latin typeface="Aptos"/>
              </a:rPr>
              <a:t>05 — INNOVATION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"/>
              </a:rPr>
              <a:t>We proved a limit of autonomous issuance.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727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0AEC2"/>
                </a:solidFill>
                <a:latin typeface="Aptos"/>
              </a:rPr>
              <a:t>Under an arbitrarily long partition, four desirable properties cannot all coexist without an additional named constraint.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2423160" cy="12344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2724912"/>
            <a:ext cx="384048" cy="384048"/>
          </a:xfrm>
          <a:prstGeom prst="ellipse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7" y="2633472"/>
            <a:ext cx="1508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C"/>
                </a:solidFill>
                <a:latin typeface="Aptos"/>
              </a:rPr>
              <a:t>AUTONOMY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423160"/>
            <a:ext cx="2423160" cy="12344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76472" y="2724912"/>
            <a:ext cx="384048" cy="38404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2633472"/>
            <a:ext cx="1508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C"/>
                </a:solidFill>
                <a:latin typeface="Aptos"/>
              </a:rPr>
              <a:t>INDEPENDENT
ISSUANCE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423160"/>
            <a:ext cx="2423160" cy="12344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11112" y="2724912"/>
            <a:ext cx="384048" cy="384048"/>
          </a:xfrm>
          <a:prstGeom prst="ellipse">
            <a:avLst/>
          </a:prstGeom>
          <a:solidFill>
            <a:srgbClr val="A5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8" y="2633472"/>
            <a:ext cx="1508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C"/>
                </a:solidFill>
                <a:latin typeface="Aptos"/>
              </a:rPr>
              <a:t>FULL
RETENTION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423160"/>
            <a:ext cx="2423160" cy="12344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45752" y="2724912"/>
            <a:ext cx="384048" cy="384048"/>
          </a:xfrm>
          <a:prstGeom prst="ellipse">
            <a:avLst/>
          </a:prstGeom>
          <a:solidFill>
            <a:srgbClr val="64D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9528" y="2633472"/>
            <a:ext cx="1508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C"/>
                </a:solidFill>
                <a:latin typeface="Aptos"/>
              </a:rPr>
              <a:t>FIXED GLOBAL
SUPPLY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88620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FF5C6C"/>
                </a:solidFill>
                <a:latin typeface="Aptos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5262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9933"/>
                </a:solidFill>
                <a:latin typeface="Aptos"/>
              </a:rPr>
              <a:t>SOMETHING MUST GIVE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07492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4F7FC"/>
                </a:solidFill>
                <a:latin typeface="Aptos"/>
              </a:rPr>
              <a:t>A scarcity constraint must be explicit: preallocated budget, expiring rights, a physical/computational resource, or another named mechanism.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806440"/>
            <a:ext cx="8869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0AEC2"/>
                </a:solidFill>
                <a:latin typeface="Aptos"/>
              </a:rPr>
              <a:t>Proposition 1 — a model-level impossibility result, not an implementation shortcoming.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EE0DA"/>
                </a:solidFill>
                <a:latin typeface="Aptos"/>
              </a:rPr>
              <a:t>06 — INNOVATION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"/>
              </a:rPr>
              <a:t>Identity strength is economic, not arbitrary.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727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0AEC2"/>
                </a:solidFill>
                <a:latin typeface="Aptos"/>
              </a:rPr>
              <a:t>The identity mechanism should preserve exactly the information the economic function actually 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4937760" cy="342900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5C6C"/>
                </a:solidFill>
                <a:latin typeface="Aptos"/>
              </a:rPr>
              <a:t>TOO WEAK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C"/>
                </a:solidFill>
                <a:latin typeface="Aptos"/>
              </a:rPr>
              <a:t>→ collisions can change economic meaning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9933"/>
                </a:solidFill>
                <a:latin typeface="Aptos"/>
              </a:rPr>
              <a:t>TOO STRONG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C"/>
                </a:solidFill>
                <a:latin typeface="Aptos"/>
              </a:rPr>
              <a:t>→ unnecessary storage / identity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DA82"/>
                </a:solidFill>
                <a:latin typeface="Aptos"/>
              </a:rPr>
              <a:t>RIGHT-SIZED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4068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C"/>
                </a:solidFill>
                <a:latin typeface="Aptos"/>
              </a:rPr>
              <a:t>→ sufficient for the reward function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240280"/>
            <a:ext cx="5394960" cy="3429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0604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EE0DA"/>
                </a:solidFill>
                <a:latin typeface="Aptos"/>
              </a:rPr>
              <a:t>IDENTITY-SUFFICIENCY LEMMA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C"/>
                </a:solidFill>
                <a:latin typeface="Aptos"/>
              </a:rPr>
              <a:t>Reward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520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0AEC2"/>
                </a:solidFill>
                <a:latin typeface="Aptos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862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C"/>
                </a:solidFill>
                <a:latin typeface="Aptos"/>
              </a:rPr>
              <a:t>Required event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569FF"/>
                </a:solidFill>
                <a:latin typeface="Aptos"/>
              </a:rPr>
              <a:t>A checkable condition replaces guesswork.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5780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0AEC2"/>
                </a:solidFill>
                <a:latin typeface="Aptos"/>
              </a:rPr>
              <a:t>No stronger. No weaker.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EE0DA"/>
                </a:solidFill>
                <a:latin typeface="Aptos"/>
              </a:rPr>
              <a:t>07 — INNOVATION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"/>
              </a:rPr>
              <a:t>A cost-explicit model for Sybil &amp; patient capital.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727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0AEC2"/>
                </a:solidFill>
                <a:latin typeface="Aptos"/>
              </a:rPr>
              <a:t>Reward concavity alone is not the whole security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3154680" cy="12344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907792"/>
            <a:ext cx="457200" cy="457200"/>
          </a:xfrm>
          <a:prstGeom prst="ellipse">
            <a:avLst/>
          </a:prstGeom>
          <a:solidFill>
            <a:srgbClr val="3E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761488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7FC"/>
                </a:solidFill>
                <a:latin typeface="Aptos"/>
              </a:rPr>
              <a:t>IDENTITY
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6512" y="29443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0AEC2"/>
                </a:solidFill>
                <a:latin typeface="Aptos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60320"/>
            <a:ext cx="3154680" cy="12344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73168" y="2907792"/>
            <a:ext cx="457200" cy="4572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761488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7FC"/>
                </a:solidFill>
                <a:latin typeface="Aptos"/>
              </a:rPr>
              <a:t>CAPITAL
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9443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0AEC2"/>
                </a:solidFill>
                <a:latin typeface="Aptos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560320"/>
            <a:ext cx="3154680" cy="12344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22208" y="2907792"/>
            <a:ext cx="457200" cy="457200"/>
          </a:xfrm>
          <a:prstGeom prst="ellipse">
            <a:avLst/>
          </a:prstGeom>
          <a:solidFill>
            <a:srgbClr val="A5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761488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7FC"/>
                </a:solidFill>
                <a:latin typeface="Aptos"/>
              </a:rPr>
              <a:t>PARTITION
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34340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0AEC2"/>
                </a:solidFill>
                <a:latin typeface="Aptos"/>
              </a:rPr>
              <a:t>ATTACK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800600"/>
            <a:ext cx="8595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F7FC"/>
                </a:solidFill>
                <a:latin typeface="Aptos"/>
              </a:rPr>
              <a:t>→ optimal split size  •  → attacker profit  •  → dependence on partition duration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5778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4DA82"/>
                </a:solidFill>
                <a:latin typeface="Aptos"/>
              </a:rPr>
              <a:t>The model makes identity-creation cost a load-bearing economic constraint.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EE0DA"/>
                </a:solidFill>
                <a:latin typeface="Aptos"/>
              </a:rPr>
              <a:t>08 — INNOVATION 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"/>
              </a:rPr>
              <a:t>Seven layers. Cleanly separated.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727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0AEC2"/>
                </a:solidFill>
                <a:latin typeface="Aptos"/>
              </a:rPr>
              <a:t>A reference architecture where each layer states what it guarantees, assumes, and does not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1417320" cy="155448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1A4FF"/>
                </a:solidFill>
                <a:latin typeface="Aptos"/>
              </a:rP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3273552"/>
            <a:ext cx="411480" cy="411480"/>
          </a:xfrm>
          <a:prstGeom prst="ellipse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822191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7FC"/>
                </a:solidFill>
                <a:latin typeface="Aptos"/>
              </a:rPr>
              <a:t>Transport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7128" y="2743200"/>
            <a:ext cx="1417320" cy="155448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7128" y="292608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EE0DA"/>
                </a:solidFill>
                <a:latin typeface="Aptos"/>
              </a:rP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2670048" y="3273552"/>
            <a:ext cx="411480" cy="411480"/>
          </a:xfrm>
          <a:prstGeom prst="ellipse">
            <a:avLst/>
          </a:prstGeom>
          <a:solidFill>
            <a:srgbClr val="3E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3822191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7FC"/>
                </a:solidFill>
                <a:latin typeface="Aptos"/>
              </a:rPr>
              <a:t>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1336" y="2743200"/>
            <a:ext cx="1417320" cy="155448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336" y="292608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569FF"/>
                </a:solidFill>
                <a:latin typeface="Aptos"/>
              </a:rPr>
              <a:t>03</a:t>
            </a:r>
          </a:p>
        </p:txBody>
      </p:sp>
      <p:sp>
        <p:nvSpPr>
          <p:cNvPr id="16" name="Oval 15"/>
          <p:cNvSpPr/>
          <p:nvPr/>
        </p:nvSpPr>
        <p:spPr>
          <a:xfrm>
            <a:off x="4334256" y="3273552"/>
            <a:ext cx="411480" cy="411480"/>
          </a:xfrm>
          <a:prstGeom prst="ellipse">
            <a:avLst/>
          </a:prstGeom>
          <a:solidFill>
            <a:srgbClr val="A5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22776" y="3822191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7FC"/>
                </a:solidFill>
                <a:latin typeface="Aptos"/>
              </a:rPr>
              <a:t>DAG / Ledger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95544" y="2743200"/>
            <a:ext cx="1417320" cy="155448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5544" y="292608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9933"/>
                </a:solidFill>
                <a:latin typeface="Aptos"/>
              </a:rPr>
              <a:t>04</a:t>
            </a:r>
          </a:p>
        </p:txBody>
      </p:sp>
      <p:sp>
        <p:nvSpPr>
          <p:cNvPr id="20" name="Oval 19"/>
          <p:cNvSpPr/>
          <p:nvPr/>
        </p:nvSpPr>
        <p:spPr>
          <a:xfrm>
            <a:off x="5998464" y="3273552"/>
            <a:ext cx="411480" cy="41148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6983" y="3822191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7FC"/>
                </a:solidFill>
                <a:latin typeface="Aptos"/>
              </a:rPr>
              <a:t>Economics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9752" y="2743200"/>
            <a:ext cx="1417320" cy="155448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9752" y="292608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4DA82"/>
                </a:solidFill>
                <a:latin typeface="Aptos"/>
              </a:rPr>
              <a:t>05</a:t>
            </a:r>
          </a:p>
        </p:txBody>
      </p:sp>
      <p:sp>
        <p:nvSpPr>
          <p:cNvPr id="24" name="Oval 23"/>
          <p:cNvSpPr/>
          <p:nvPr/>
        </p:nvSpPr>
        <p:spPr>
          <a:xfrm>
            <a:off x="7662672" y="3273552"/>
            <a:ext cx="411480" cy="411480"/>
          </a:xfrm>
          <a:prstGeom prst="ellipse">
            <a:avLst/>
          </a:prstGeom>
          <a:solidFill>
            <a:srgbClr val="64D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51192" y="3822191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7FC"/>
                </a:solidFill>
                <a:latin typeface="Aptos"/>
              </a:rPr>
              <a:t>Modules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2743200"/>
            <a:ext cx="1417320" cy="155448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92608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569FF"/>
                </a:solidFill>
                <a:latin typeface="Aptos"/>
              </a:rPr>
              <a:t>06</a:t>
            </a:r>
          </a:p>
        </p:txBody>
      </p:sp>
      <p:sp>
        <p:nvSpPr>
          <p:cNvPr id="28" name="Oval 27"/>
          <p:cNvSpPr/>
          <p:nvPr/>
        </p:nvSpPr>
        <p:spPr>
          <a:xfrm>
            <a:off x="9326880" y="3273552"/>
            <a:ext cx="411480" cy="411480"/>
          </a:xfrm>
          <a:prstGeom prst="ellipse">
            <a:avLst/>
          </a:prstGeom>
          <a:solidFill>
            <a:srgbClr val="A5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3822191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7FC"/>
                </a:solidFill>
                <a:latin typeface="Aptos"/>
              </a:rPr>
              <a:t>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88168" y="2743200"/>
            <a:ext cx="1417320" cy="155448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88168" y="292608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6CC48"/>
                </a:solidFill>
                <a:latin typeface="Aptos"/>
              </a:rPr>
              <a:t>07</a:t>
            </a:r>
          </a:p>
        </p:txBody>
      </p:sp>
      <p:sp>
        <p:nvSpPr>
          <p:cNvPr id="32" name="Oval 31"/>
          <p:cNvSpPr/>
          <p:nvPr/>
        </p:nvSpPr>
        <p:spPr>
          <a:xfrm>
            <a:off x="10991088" y="3273552"/>
            <a:ext cx="411480" cy="411480"/>
          </a:xfrm>
          <a:prstGeom prst="ellipse">
            <a:avLst/>
          </a:prstGeom>
          <a:solidFill>
            <a:srgbClr val="F6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79608" y="3822191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7FC"/>
                </a:solidFill>
                <a:latin typeface="Aptos"/>
              </a:rPr>
              <a:t>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8920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4F7FC"/>
                </a:solidFill>
                <a:latin typeface="Aptos"/>
              </a:rPr>
              <a:t>Change one layer without silently turning another layer into a hidden dependency.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532120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0AEC2"/>
                </a:solidFill>
                <a:latin typeface="Aptos"/>
              </a:rPr>
              <a:t>Transport is pluggable. Modules are sandboxed. Presentation is decoupled from module logic.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EE0DA"/>
                </a:solidFill>
                <a:latin typeface="Aptos"/>
              </a:rPr>
              <a:t>09 — INNOVATION #7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"/>
              </a:rPr>
              <a:t>AI assistance without AI authority.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727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0AEC2"/>
                </a:solidFill>
                <a:latin typeface="Aptos"/>
              </a:rPr>
              <a:t>AI can improve the experience without becoming a security boundary.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4800600" cy="32461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51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DA82"/>
                </a:solidFill>
                <a:latin typeface="Aptos"/>
              </a:rPr>
              <a:t>AI 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Generate module code</a:t>
            </a:r>
          </a:p>
          <a:p>
            <a:pPr>
              <a:spcAft>
                <a:spcPts val="12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Triage activation / transaction risk</a:t>
            </a:r>
          </a:p>
          <a:p>
            <a:pPr>
              <a:spcAft>
                <a:spcPts val="12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Assist the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2331720"/>
            <a:ext cx="5394960" cy="324612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651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5C6C"/>
                </a:solidFill>
                <a:latin typeface="Aptos"/>
              </a:rPr>
              <a:t>AI CANNOT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063240"/>
            <a:ext cx="4297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Define merge validity</a:t>
            </a:r>
          </a:p>
          <a:p>
            <a:pPr>
              <a:spcAft>
                <a:spcPts val="12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Override conservation / replay rules</a:t>
            </a:r>
          </a:p>
          <a:p>
            <a:pPr>
              <a:spcAft>
                <a:spcPts val="12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Bypass economic configuration checks</a:t>
            </a:r>
          </a:p>
          <a:p>
            <a:pPr>
              <a:spcAft>
                <a:spcPts val="12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Sign silently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5760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0AEC2"/>
                </a:solidFill>
                <a:latin typeface="Aptos"/>
              </a:rPr>
              <a:t>REMOVE THE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7607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EE0DA"/>
                </a:solidFill>
                <a:latin typeface="Aptos"/>
              </a:rPr>
              <a:t>→ UX changes.  Protocol validity does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EE0DA"/>
                </a:solidFill>
                <a:latin typeface="Aptos"/>
              </a:rPr>
              <a:t>10 —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"/>
              </a:rPr>
              <a:t>Do not turn assumptions into guarantees.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727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0AEC2"/>
                </a:solidFill>
                <a:latin typeface="Aptos"/>
              </a:rPr>
              <a:t>AIWA's strongest methodological claim is explicit boundaries.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2514600" cy="21031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4DA82"/>
                </a:solidFill>
                <a:latin typeface="Aptos"/>
              </a:rPr>
              <a:t>GUARANTEED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4F7FC"/>
                </a:solidFill>
                <a:latin typeface="Aptos"/>
              </a:rPr>
              <a:t>Formal property
under stated assumptions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423160"/>
            <a:ext cx="2514600" cy="21031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74320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1A4FF"/>
                </a:solidFill>
                <a:latin typeface="Aptos"/>
              </a:rPr>
              <a:t>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337560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4F7FC"/>
                </a:solidFill>
                <a:latin typeface="Aptos"/>
              </a:rPr>
              <a:t>Executable experiment
with reported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23160"/>
            <a:ext cx="2514600" cy="21031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9933"/>
                </a:solidFill>
                <a:latin typeface="Aptos"/>
              </a:rPr>
              <a:t>ASSUMED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337560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4F7FC"/>
                </a:solidFill>
                <a:latin typeface="Aptos"/>
              </a:rPr>
              <a:t>Dependency required
by the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423160"/>
            <a:ext cx="2514600" cy="21031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74320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5C6C"/>
                </a:solidFill>
                <a:latin typeface="Aptos"/>
              </a:rPr>
              <a:t>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337560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4F7FC"/>
                </a:solidFill>
                <a:latin typeface="Aptos"/>
              </a:rPr>
              <a:t>Known boundary
not yet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98348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7FC"/>
                </a:solidFill>
                <a:latin typeface="Aptos"/>
              </a:rPr>
              <a:t>What the architecture does NOT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440680"/>
            <a:ext cx="9418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0AEC2"/>
                </a:solidFill>
                <a:latin typeface="Aptos"/>
              </a:rPr>
              <a:t>No perfect Sybil resistance • no proof of physical truth • no globally instantaneous settlement • no security guarantee from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EE0DA"/>
                </a:solidFill>
                <a:latin typeface="Aptos"/>
              </a:rPr>
              <a:t>AIWA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AEC2"/>
                </a:solidFill>
                <a:latin typeface="Aptos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7863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C"/>
                </a:solidFill>
                <a:latin typeface="Aptos"/>
              </a:rPr>
              <a:t>Build systems that keep working
when communication stops.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54680"/>
            <a:ext cx="8138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A0AEC2"/>
                </a:solidFill>
                <a:latin typeface="Aptos"/>
              </a:rPr>
              <a:t>Not by pretending coordination does not matter —
but by separating what can be autonomous from what cannot.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417320"/>
            <a:ext cx="2743200" cy="33832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82880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4F7FC"/>
                </a:solidFill>
                <a:latin typeface="Aptos"/>
              </a:rPr>
              <a:t>AIWA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60604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7FC"/>
                </a:solidFill>
                <a:latin typeface="Aptos"/>
              </a:rPr>
              <a:t>DAG-native
Partition-tolerant
Economically explicit
AI-assisted
AI non-authoritative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6583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EE0DA"/>
                </a:solidFill>
                <a:latin typeface="Aptos"/>
              </a:rPr>
              <a:t>“Name the dependency.
State the guarantee.
Test what can be tested.”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0AEC2"/>
                </a:solidFill>
                <a:latin typeface="Aptos"/>
              </a:rPr>
              <a:t>AIWA Whitepaper v1.2 revised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59893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31A4FF"/>
                </a:solidFill>
                <a:latin typeface="Aptos"/>
              </a:rPr>
              <a:t>aiwa.dev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C2"/>
                </a:solidFill>
                <a:latin typeface="Aptos"/>
              </a:rPr>
              <a:t>AIWA  •  Autonomous Interplanetary Web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0AEC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AIWA — Deep-Tech Architecture Deck</dc:title>
  <dc:subject>AIWA: DAG-native architecture for autonomy under communication partitions</dc:subject>
  <dc:creator>AIWA</dc:creator>
  <cp:keywords>AIWA, DAG, distributed systems, interplanetary, autonomous, AI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